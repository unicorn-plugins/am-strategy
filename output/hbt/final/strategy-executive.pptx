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B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7AA3"/>
          </a:solidFill>
          <a:ln w="12700">
            <a:solidFill>
              <a:srgbClr val="007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전환 전략 보고서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HBT(하이브리지텔레콤) 경영진 발표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 2026년 4월 18일  |  버전: v1.0  |  스폰서: CEO · CFO · CIO 공동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집필: 이서윤 (AM 전략 리드)  |  공동: 한지민 · 박도현 · 정민호 · 최재원 · 윤하늘 · 강연우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한 페이지 브리핑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685800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 전환 없이 AI 투자 ROI는 0. HBT는 3년 403~835억을 투자해 연 1,117~1,708억의 기술부채·AI 기회비용을 상환한다."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457200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메시지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수치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왜 (WHY)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 22주(글로벌 하위 2%) · IT 운영비 증가율이 매출의 4배 · AI 도구만 도입 시 ROI ≈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4S+혁신 5개 동인 전부 AM 필수 판정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얼마 (BUDGET)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3년 누적 투자 403~835억 · 기술부채 연 890~1,600억 상환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 1.8~4.2년 · 5년 ROI 498~593%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언제 (WHEN)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0~4, 30~42개월 · 파일럿 2개 (DLR-PORTAL 1호 · PROD-CAT 2호)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게이트 5개, DORA 5메트릭 GO/NO-GO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어떻게 (HOW)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6R 상세(Rearch 6 + Rebuild 3 = 9) AI 7역량 활성화 · 5 회의체 · 6 가드레일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Bounded Context, VSM 22주→1~7일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 (RISK)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5 리스크 (BILL-KT의존 · AI Rework · 동시 Rearch · IDP SPOF · AI ROI 스폰서십)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21개 리스크 매트릭스 · 월간 리뷰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2062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206240"/>
            <a:ext cx="8266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요청: Phase 0 착수 승인  |  CFO 공동 스폰서십 확정  |  리스크·거버넌스 위원회 발족 (2026.05.15 이전)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 5개 동인 전수 검사 (4S+혁신)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31520"/>
            <a:ext cx="1594714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31520"/>
            <a:ext cx="1594714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31520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097280"/>
            <a:ext cx="137525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22주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(글로벌 하위 2%)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대비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5~10배 느림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70202" y="731520"/>
            <a:ext cx="1594714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0202" y="731520"/>
            <a:ext cx="1594714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3354" y="731520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Always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9930" y="1097280"/>
            <a:ext cx="137525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복구 4.8시간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 24%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위반 연 12건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(DORA 하위 40%)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4643" y="731520"/>
            <a:ext cx="1594714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74643" y="731520"/>
            <a:ext cx="1594714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7795" y="731520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4371" y="1097280"/>
            <a:ext cx="137525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운영비 +7.3%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증가 +1.8%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(4배 격차)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후 영업이익률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-2.1%p 위기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79085" y="731520"/>
            <a:ext cx="1594714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9085" y="731520"/>
            <a:ext cx="1594714" cy="292608"/>
          </a:xfrm>
          <a:prstGeom prst="rect">
            <a:avLst/>
          </a:prstGeom>
          <a:solidFill>
            <a:srgbClr val="1A5E7E"/>
          </a:solidFill>
          <a:ln w="12700">
            <a:solidFill>
              <a:srgbClr val="1A5E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2237" y="731520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88813" y="1097280"/>
            <a:ext cx="137525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미패치 137건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자동화 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금감원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제재 후보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3526" y="731520"/>
            <a:ext cx="1594714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83526" y="731520"/>
            <a:ext cx="1594714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6678" y="731520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(AI)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93254" y="1097280"/>
            <a:ext cx="137525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ROI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불가 (2025)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투자 자체가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좌초 위험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15384"/>
            <a:ext cx="8193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동인 모두 "얼마나 빨리 해야 하는가"의 문제 — 출처: DORA 2025 · 행정안전부 2026.03.11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2025 — HBT L1 정량 목표 (글로벌 4,997명 기반)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13232"/>
          <a:ext cx="8412480" cy="3072384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  <a:gridCol w="1097280"/>
                <a:gridCol w="1371600"/>
                <a:gridCol w="18105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HBT 현재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(1년)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(2년)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 (3년)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글로벌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Freq.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1~2회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3~5회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 1회+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44.6% = 일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22주 (하위 2%)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1일 이내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24.4% = 1일 이내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4.8시간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2시간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1시간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30분 이내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21.3% = 1시간 이내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Fail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10~14%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이하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36.2% = 8% 이하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Rework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미흡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10~14%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이하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20.1% = 4% 이하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794760"/>
            <a:ext cx="274320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794760"/>
            <a:ext cx="2743200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79476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" y="41605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4,997명 설문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속도와 안정성은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트레이드오프 아님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(Cluster 6·7 상위 40%)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3794760"/>
            <a:ext cx="274320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3794760"/>
            <a:ext cx="274320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73552" y="379476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HBT 현재 위치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0128" y="41605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하위 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(Lead Time 22주)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Bottleneck 33%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3794760"/>
            <a:ext cx="2743200" cy="1005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794760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379476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목표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41605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완료 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24.4% 진입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6/7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이상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지금인가 — 연기 비용 &gt; 투자 비용 (2026년부터 영구 성립)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749808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AM을 1년 늦출 때마다...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16736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기술부채 연 +10~20% 누증 (AI 시대 +20%)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83664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지연 = 178~240억 손실 (Base 시나리오)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50592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대비 시장점유율 -0.3~-0.7%p/년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1752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"연기 비용 &gt; 투자 비용" 2026년부터 영구 성립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749808"/>
          <a:ext cx="4023360" cy="1901952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146304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스폰서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HBT 현황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전사 비전·우선순위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2026.Q1 킥오프 완료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 (핵심)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TCO·BEP 추적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스폰서십 레터 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 + 사업부장 4인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Phase별 실행 승인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워킹그룹 구성 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754880" y="283464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2889504"/>
            <a:ext cx="3803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공동 스폰서십 = 전체 프로그램 최대 성공 변수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(2022년 디지털혁신 좌초 원인 1위: 재무 본부 미참여)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4114800"/>
            <a:ext cx="4160520" cy="502920"/>
          </a:xfrm>
          <a:prstGeom prst="roundRect">
            <a:avLst>
              <a:gd name="adj" fmla="val 12727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169664"/>
            <a:ext cx="3941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할인 역설: AM 1년 지연 비용 &gt; AM 투자 비용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기술부채 2,670~4,800억 vs 투자 403~835억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진단 — 24개 시스템 인벤토리 · A/B/C 등급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E2EEF9"/>
          </a:solidFill>
          <a:ln w="12700">
            <a:solidFill>
              <a:srgbClr val="B8D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시스템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 · 8 서브도메인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E2EEF9"/>
          </a:solidFill>
          <a:ln w="12700">
            <a:solidFill>
              <a:srgbClr val="B8D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운영비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620억 (인건비 포함)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749808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E2EEF9"/>
          </a:solidFill>
          <a:ln w="12700">
            <a:solidFill>
              <a:srgbClr val="B8D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비율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— 글로벌 평균 1.5배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2048256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1005840"/>
                <a:gridCol w="345643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클러스터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(핵심·긴급)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비즈니스 Critical + 기술 악화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2 (Legacy Bottleneck) + Cluster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(중요·안정)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비즈니스 중요 + 기술 양호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5/6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(저우선)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비즈니스 저가치 또는 Retire 후보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3703320"/>
            <a:ext cx="8412480" cy="256032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핫스팟 Top 5 (가장 많은 의존 연결)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995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 ·  BILL  ·  IDP  ·  PAY  ·  DW  — 24개 시스템 중 가장 많은 의존 연결 (Rearchitect/Rebuild 우선 대상)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건강도 스코어카드 · 기술부채 연 890~1,600억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3840480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49808"/>
            <a:ext cx="3840480" cy="320040"/>
          </a:xfrm>
          <a:prstGeom prst="rect">
            <a:avLst/>
          </a:prstGeom>
          <a:solidFill>
            <a:srgbClr val="1A5E7E"/>
          </a:solidFill>
          <a:ln w="12700">
            <a:solidFill>
              <a:srgbClr val="1A5E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49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건강도 12차원 스코어카드 결과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207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양호 (Green)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시스템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7739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 (Yellow)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48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시스템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408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 (Red)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시스템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기존 차원: 비즈니스 가치·기술 품질·데이터 결합도·운영 안정성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8차원: 7 AI 역량 + 12 플랫폼 특성 집계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749808"/>
          <a:ext cx="4343400" cy="3364992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기술부채 항목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 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레거시 유지보수 오버헤드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210~350억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장애·SLA 위약금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430~1,140억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취약점 대응 지연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80~130억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기능 기회비용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150~280억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인력 이탈·채용 난항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70~120억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ROI 잠금 기회비용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200~400억 (별도)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 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890~1,600억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434840" y="4224528"/>
            <a:ext cx="4343400" cy="38404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44568" y="427939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운영비 620억 대비 기술부채 2.6배 — 운영비보다 기술부채가 더 큰 실제 비용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4151376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420624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(Legacy Bottleneck) 33%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글로벌 평균 대비 1.5배 높음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6R·TIME 매칭 결과 · 8 Bounded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2743200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274320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Rearchitect + Rebuild = 9개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25237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Rearchitect 6건: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BILL-MF, CRM, PAY,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ORD, NMS, DW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3건: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IDP, FLT, STL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7역량 전체 활성화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ROI 잠금 해소 최대)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49808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+ Replatform = 9개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115568"/>
            <a:ext cx="25237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6건: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PROD-CAT, MY-APP,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BI-REP, CNTR-MGT,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CMP-MGT, CSC-WEB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Replatform 3건: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DLR-PORTAL,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INV-RES, CC-IVR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743200" cy="32918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743200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Repurchase + Retire + Retain = 6개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115568"/>
            <a:ext cx="25237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Repurchase 1건: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SFA-ENT (Salesforce)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2건: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COLL-LGC, IDC-OPS 후속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3건: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REC-AI, CLD-PLAT, IDC-OPS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412480" cy="347472"/>
          </a:xfrm>
          <a:prstGeom prst="rect">
            <a:avLst/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Bounded Context:  고객관리  ·  상품카탈로그  ·  요금빌링  ·  결제정산  ·  네트워크운영  ·  콜센터VOC  ·  분석BI  ·  공통관리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 전략 매핑 — 24개 시스템 전수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3456432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011680"/>
                <a:gridCol w="2651760"/>
                <a:gridCol w="144475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7역량 활성화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대표 시스템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Rearchitect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7/7 전체 (AI ROI 최대)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BILL-MF, CRM, PAY, ORD, NMS, DW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7/7 전체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IDP, DW, FLT, STL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4~5/7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PROD-CAT, MY-APP, BI-REP 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Invest/Migrate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3~4/7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DLR-PORTAL, INV-RES, CC-IVR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Repurchase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의존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SFA-ENT (Salesforce)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Retire / Retain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COLL-LGC, IDC-OPS, REC-AI 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Eliminate/Tolerate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14800"/>
            <a:ext cx="5215738" cy="38404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4169664"/>
            <a:ext cx="499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Rehost 0건 — "Lift &amp; Shift는 AI ROI 잠금 해소 효과 거의 없음" (DORA 2025 §06)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5622" y="4114800"/>
            <a:ext cx="3112618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38774" y="4114800"/>
            <a:ext cx="2966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VSM: 22주 → 1~7일 (-95~99%)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1' 파일럿 2개 선정 — 전환 플레이북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4091940" cy="33832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40919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3945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1호 ⭐ DLR-PORTAL (대리점 포털)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387248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6R: Refactor  |  기간: 3~5개월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가치 A등급 (BV 5.00)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리스크 프로파일 B (이중 축 병기)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DB · 롤백 용이 (Feature Toggle)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대리점 9,500명 + 신규가입 70% 경로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2.5 + Vue.js 2 · Git운영 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5메트릭 베이스라인 측정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8/8 선정 기준 전부 충족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6300" y="749808"/>
            <a:ext cx="4091940" cy="33832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6300" y="749808"/>
            <a:ext cx="4091940" cy="2926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9452" y="749808"/>
            <a:ext cx="3945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2호 PROD-CAT (상품 카탈로그)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6028" y="1161288"/>
            <a:ext cx="387248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6R: Replatform  |  기간: 2~4개월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B등급 · Cluster 5 Stable · 독립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→ PostgreSQL Blue-Green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신상품 출시 리드 2개월 → 2주 측정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BILL-MF 독립성 확보 (Strangler Fig)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컨텍스트로 즉시 활용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2.3 이미 현대적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8/8 선정 기준 전부 충족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24528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4224528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핫스팟 배제 원칙: CRM·ORD·BILL·STL·PAY·DW → 학습 손실 시 매출 중단 리스크 → Phase 2~3 본격 전환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정책 3-Bucket · 5 거버넌스 회의체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274320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(저위험·고가치) — 15항목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25237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보일러플레이트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설계 문서 요약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코드 초안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비독점 데이터 브레인스토밍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비독점 회의록 요약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49808"/>
            <a:ext cx="2743200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Permitted w/ Guardrails (조건부) — 8항목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115568"/>
            <a:ext cx="25237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AI 도구로만 독점 소스 코드 사용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생성 코드 human-in-the-loop 필수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마스킹 후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라인 수 &lt; 300 강제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743200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74320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(금지) — 10항목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115568"/>
            <a:ext cx="25237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PII/영업비밀 공개 AI 입력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키/비밀번호 프롬프트 포함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데이터 외부 전송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표준 프로토콜 변경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2414016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49194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회의체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전략·예산·우선순위·AI 정책 정기 안건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실행 조정·VSM 분기 1회 재매핑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 (Architecture Review Board)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2주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승인·12 플랫폼 특성 게이트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Committee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리스크 추적·에스컬레이션·AI 도입 메트릭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Committee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분기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TCO·BEP 추적·AI 인프라 비용 분리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0~4 마스터 로드맵 (30~42개월)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7498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 분석·기반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749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 ~ 2026.09  (4~6개월)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749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플랫폼 자가평가 · VSM · 7 AI 역량 베이스라인 · AI 정책 초안 · SonarQube 실측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63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Quick Win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 ~ 2027.04  (6~10개월)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2개 + IDP-SSO Replatform + 8개 Quick Win · 플랫폼 MVP 구축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176272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762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Core Rearch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2027.01 ~ 2028.06  (14~18개월)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762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3 + Rearchitect 5 + Replace 1 = 9개 시스템 · CRM·ORD·NMS·DW 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89504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Rebuild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28895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2027.10 ~ 2029.03  (16~20개월)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895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FLT-MGT Rebuild + BILL-MF Rebuild (Critical Path 24~36개월) · AI 활성화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02736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602736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 Sustain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36027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2028.09 ~ 2029.09  (10~14개월)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6027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STL-MF Rebuild · 전사 안정화 · AI 7역량 완성 · Cluster 6/7 50% 진입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370832"/>
            <a:ext cx="8193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Path: BILL-MF Rebuild (24~36개월) — Phase 0부터 도메인 KT 16주 선행 필수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시스템 수: 파일럿 2개  |  Phase 2: 9개  |  Phase 3: 3개  |  Phase 4: 2개+안정화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게이트 5개 — DORA 5메트릭 GO/NO-GO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3072384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4434840"/>
                <a:gridCol w="240487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게이트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조건 (AND)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NO-GO 시 대응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G0 → G1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플랫폼 특성 자가평가 완료 + AI 정책 3-Bucket 승인 + VSM 매핑 완료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 연장 2~3개월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→ G2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파일럿 2개 DORA 5메트릭 ≥ 1단계 향상 + Rollback 5분 이내 + CFR ≤ 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파일럿 추가 최대 4개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→ G3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플랫폼 12특성 평균 "Moderately" + BILL-MF 분해 50%+ + 7 AI 역량 베이스라인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연장 3~6개월 + Critical Path 재설계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→ G4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역량 평균 ≥ "평균" + AI ROI 측정 가능 + Cluster 6/7 진입 ≥ 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도입 속도 재조정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완료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6/7 진입 ≥ 50% + DORA 5메트릭 전 Top 50% + TCO 절감 Base 7%+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 연장 + 근본원인 분석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69664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416966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계획대로 → 월간 리뷰만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169664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73552" y="416966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Yellow: 1~2개 미달 → Working Group 주 1회 집중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4169664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416966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Red: 3개+ 미달 → Steering 72시간 이내 소집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투자 규모 — 3 시나리오 (Conservative / Base / Optimistic)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749808"/>
            <a:ext cx="8266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기술부채 누적 2,670~4,800억  vs.  AM 전환 투자 403~835억 — 전환 안 하는 비용이 전환 비용의 최대 5.8배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2048256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777240"/>
                <a:gridCol w="777240"/>
                <a:gridCol w="1097280"/>
                <a:gridCol w="1005840"/>
                <a:gridCol w="144475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시나리오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3년 투자 총액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55.7억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(플래닝 기준)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218.5억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172.6억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127.4억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2944368"/>
            <a:ext cx="274320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944368"/>
            <a:ext cx="2743200" cy="292608"/>
          </a:xfrm>
          <a:prstGeom prst="rect">
            <a:avLst/>
          </a:prstGeom>
          <a:solidFill>
            <a:srgbClr val="1A5E7E"/>
          </a:solidFill>
          <a:ln w="12700">
            <a:solidFill>
              <a:srgbClr val="1A5E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9443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" y="33101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확정 기준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403억 / BEP 4.2년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 498%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0" y="2944368"/>
            <a:ext cx="274320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2944368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29443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(권장)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10128" y="33101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플래닝 기준 (권장)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620억 / BEP 2.9년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 514%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0" y="2944368"/>
            <a:ext cx="274320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2944368"/>
            <a:ext cx="2743200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29443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44768" y="33101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압박 기준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835억 / BEP 1.8년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 593%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vs To-Be TCO · BEP 시점 (3 시나리오)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4663440" cy="3584448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  <a:gridCol w="658368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 (연간)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To-Be (연간)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절감률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서버·스토리지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45~60억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-78~83%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라이선스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70~95억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-47~61%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인건비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220~290억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-53~64%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플랫폼 팀 (신규)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38~62억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도구·인프라 (신규)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20~40억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장애·SLA 위약금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430~1,140억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0~15억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총 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1,510~2,220억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393~512억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-74~77%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57800" y="749808"/>
            <a:ext cx="3520440" cy="987552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57800" y="749808"/>
            <a:ext cx="3520440" cy="292608"/>
          </a:xfrm>
          <a:prstGeom prst="rect">
            <a:avLst/>
          </a:prstGeom>
          <a:solidFill>
            <a:srgbClr val="1A5E7E"/>
          </a:solidFill>
          <a:ln w="12700">
            <a:solidFill>
              <a:srgbClr val="1A5E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30952" y="74980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67528" y="111556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BEP: 4.2년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순이익: 2,407억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ROI: 498%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57800" y="1828800"/>
            <a:ext cx="3520440" cy="987552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57800" y="1828800"/>
            <a:ext cx="352044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0952" y="182880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(권장)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67528" y="219456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BEP: 2.9년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순이익: 3,810억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ROI: 514%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57800" y="2907792"/>
            <a:ext cx="3520440" cy="987552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57800" y="2907792"/>
            <a:ext cx="3520440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30952" y="2907792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67528" y="3273552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BEP: 1.8년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순이익: 5,785억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ROI: 593%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224528"/>
            <a:ext cx="8412480" cy="402336"/>
          </a:xfrm>
          <a:prstGeom prst="roundRect">
            <a:avLst>
              <a:gd name="adj" fmla="val 15909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27939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이내 모든 시나리오 투자 원금 회수 + 순이익 2,407~5,785억  |  행정안전부 7년 18.4% TCO 절감 실증 (공공 기준)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ROI 잠금 해소 — AM의 핵심 추가 효익 · 외부 벤치마크 3종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4663440" cy="2048256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868680"/>
                <a:gridCol w="7955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시나리오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활용 가능 시스템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 추가 효익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3년 누적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9개 (Rearch 6 + Rebuild 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15개 (+ Refactor 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22개 (거의 전체)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1,080억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898648"/>
            <a:ext cx="4663440" cy="1325880"/>
          </a:xfrm>
          <a:prstGeom prst="roundRect">
            <a:avLst>
              <a:gd name="adj" fmla="val 4828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2990088"/>
            <a:ext cx="4443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 investment in AI without a corresponding investment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platforms is unlikely to yield significant returns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organizational level."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DORA 2025 Platform Engineering Chapter (Figure 49)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57800" y="749808"/>
            <a:ext cx="3520440" cy="114300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57800" y="749808"/>
            <a:ext cx="352044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0952" y="749808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행정안전부 2026.03.11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67528" y="1115568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7년 누적 TCO 18.4% 절감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장애율 81% 감소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속도 114% 향상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과기관계장관회의 발표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57800" y="2002536"/>
            <a:ext cx="3520440" cy="114300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57800" y="2002536"/>
            <a:ext cx="3520440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0952" y="2002536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근로복지공단 2025.12.23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67528" y="2368296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23배 단축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HBT 22주→7일 = 22배 (일치)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행안부 성과보고회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57800" y="3255264"/>
            <a:ext cx="3520440" cy="114300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57800" y="3255264"/>
            <a:ext cx="3520440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30952" y="3255264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HBT 보수 적용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67528" y="3621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7~10% × 7년 ≈ 17~20%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실증치 이내 (합리적)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절감 ≥ 17% 기대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리스크 · 9셀 매트릭스 · Top 5 심층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영향도 \ 발생확률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749808"/>
            <a:ext cx="2651760" cy="384048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749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확률 (70%+)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77056" y="749808"/>
            <a:ext cx="2651760" cy="384048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749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확률 (30~70%)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5392" y="749808"/>
            <a:ext cx="2651760" cy="384048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749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확률 (&lt;30%)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152144"/>
            <a:ext cx="804672" cy="877824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152144"/>
            <a:ext cx="804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(300억+·6M+)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1152144"/>
            <a:ext cx="2651760" cy="877824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11978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R-P-02 BILL 지식 승계 실패 (가중 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R-D-01 AI Rework 폭증 (가중 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77056" y="1152144"/>
            <a:ext cx="2651760" cy="877824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1978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R-T-02 동시Rearch 병목 (가중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R-D-02 IDP SPOF (가중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R-B-01 AI ROI 스폰서십 이탈 (가중 8)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1152144"/>
            <a:ext cx="2651760" cy="877824"/>
          </a:xfrm>
          <a:prstGeom prst="rect">
            <a:avLst/>
          </a:prstGeom>
          <a:solidFill>
            <a:srgbClr val="FFC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11978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R-P-01 BILL Critical Path (가중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R-B-03 매출확정 오류 (가중 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066544"/>
            <a:ext cx="804672" cy="877824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66544"/>
            <a:ext cx="804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(50~300억·1~6M)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2066544"/>
            <a:ext cx="2651760" cy="877824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21122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R-O-01 18% 이직·채용 실패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R-T-04 FLT 보안 취약점 노출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77056" y="2066544"/>
            <a:ext cx="2651760" cy="877824"/>
          </a:xfrm>
          <a:prstGeom prst="rect">
            <a:avLst/>
          </a:prstGeom>
          <a:solidFill>
            <a:srgbClr val="D1D5D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21122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R-T-01 Teradata 락인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R-T-05 IDP 60+앱 연동 실패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R-T-06 DW ETL 리드 유지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R-P-03 파일럿 NO-GO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65392" y="2066544"/>
            <a:ext cx="2651760" cy="877824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21122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R-T-03 Strangler Fig 실패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R-P-04 COBOL 인력 충돌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R-O-04 정산사 15개 갱신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980944"/>
            <a:ext cx="804672" cy="877824"/>
          </a:xfrm>
          <a:prstGeom prst="rect">
            <a:avLst/>
          </a:prstGeom>
          <a:solidFill>
            <a:srgbClr val="E2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80944"/>
            <a:ext cx="804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(&lt;50억·&lt;1M)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88720" y="2980944"/>
            <a:ext cx="2651760" cy="877824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0266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R-O-03 DORA 설문 저조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77056" y="2980944"/>
            <a:ext cx="2651760" cy="877824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30266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R-P-05 SonarQube 지연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R-O-02 NOC 변화 저항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65392" y="2980944"/>
            <a:ext cx="2651760" cy="877824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3026664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R-B-02 번호이동 유출 지속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2793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279392"/>
            <a:ext cx="8266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가중합 32 (최대) — IDP·파일럿·AI 3대 리스크 동시 착수  |  Phase 1 게이트(2027.04)가 프로그램 전체 운명의 분기점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가드레일 · Top 5 리스크 완화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(정적 보안)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파일럿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Phase 2 시스템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3+: 전사 지속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49808"/>
            <a:ext cx="2743200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(오픈소스 취약점)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11556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파일럿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Phase 2 시스템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3+: 전사 지속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749808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49808"/>
            <a:ext cx="2743200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7498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 테스트 자동화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115568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70%+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85%+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90%+  |  Phase 4: 95%+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139696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39696"/>
            <a:ext cx="2743200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1396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250545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파일럿 API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핵심 API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3+: 전사 지속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139696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139696"/>
            <a:ext cx="2743200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1396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(동적 보안)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250545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파일럿 주 1회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Phase 2 주 1회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3+: 전사 지속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139696"/>
            <a:ext cx="274320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139696"/>
            <a:ext cx="274320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1396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44768" y="2505456"/>
            <a:ext cx="2523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핵심 시스템부터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전사 월 1회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주 1회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71216"/>
          <a:ext cx="8412480" cy="1755648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3108960"/>
                <a:gridCol w="107899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책임자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게이트 조건 충족, 메트릭 계획대로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월간 리뷰만 유지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1~2개 메트릭 미달, Phase 내 회복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Group 주 1회 집중 · Risk Committee 보고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 + 리드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3개+ 미달 또는 Critical Path 지연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임시 소집 (72시간 이내) · Phase 재수립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 + CFO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변화관리 — Phase × 6축 매트릭스 · AI Mirror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변화관리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3072384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463040"/>
                <a:gridCol w="1463040"/>
                <a:gridCol w="1188720"/>
                <a:gridCol w="12618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커뮤니케이션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이해관계자 2x2 매핑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파일럿 성공 스토리 공유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BILL-MF 분해 주간 공개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Mirror 배포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Town Hall 분기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설문·12 플랫폼 워크숍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Trunk-based·Small Batch 교육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전사 AI 3-Bucket 교육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RAG·MCP 활용 교육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 주도 학습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워킹그룹·CoP 준비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플랫폼 팀 시드 4명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플랫폼 팀 4→10명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CoP 활성화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페더레이션 모델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프로세스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VSM As-Is 매핑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GitOps·Feature Toggle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Test·DAST 전사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Canary·Blue-Green 표준화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지속 개선 공정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"Celebrate Progress" 선언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"Embrace Failure" 공유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Hackathon 분기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Share 월 1회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3대 원칙 내재화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5 베이스라인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파일럿 메트릭 주간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H.E.A.R.T. 측정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AI 역량 반기 평가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6/7 진입률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206240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4242816"/>
            <a:ext cx="8193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"AI는 조직의 강점을 증폭하고 약점도 증폭함. </a:t>
            </a:r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볼 준비가 된 조직에게 AI는 로드맵이 됨." — DORA 2025 The AI Mirror Chapter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요청 — 경영진 5가지 승인 요청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1609344" cy="324612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160934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4980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Phase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승인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371600"/>
            <a:ext cx="14813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35~60억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2026.05.01~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2026.10.31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플랫폼 특성 자가평가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베이스라인 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66544" y="749808"/>
            <a:ext cx="1609344" cy="324612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749808"/>
            <a:ext cx="1609344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12264" y="74980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G0→G1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승인 조건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1371600"/>
            <a:ext cx="14813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5메트릭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완료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플랫폼 특성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자가평가 완료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G0→G1 게이트 조건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합의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7328" y="749808"/>
            <a:ext cx="1609344" cy="324612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67328" y="749808"/>
            <a:ext cx="160934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74980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공동 스폰서십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1371600"/>
            <a:ext cx="14813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TCO·BEP 추적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CFO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브리핑 정기화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4,500억 예산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집행 공동 책임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68112" y="749808"/>
            <a:ext cx="1609344" cy="324612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8112" y="749808"/>
            <a:ext cx="160934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74980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리스크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위원회 발족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1371600"/>
            <a:ext cx="14813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2026.05.15 이전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회의체 체계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리스크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트리거 관리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68896" y="749808"/>
            <a:ext cx="1609344" cy="324612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68896" y="749808"/>
            <a:ext cx="160934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749808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변화관리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신설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2904" y="1371600"/>
            <a:ext cx="148132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전체의 8~12%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32~100억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계정 신설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변화관리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조기 착수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087368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87368"/>
            <a:ext cx="8266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2026.05.01 Phase 0 착수  →  2026.10 G0 게이트  →  2027.06 G1 게이트  →  2029.10 프로그램 완료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HBT는 볼 준비가 된 조직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CCFBF1"/>
          </a:solidFill>
          <a:ln w="19050">
            <a:solidFill>
              <a:srgbClr val="99E6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2025, the central question for technology leaders is no longer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should adopt AI, but how to realize its value.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primary role in software development is that of an </a:t>
            </a:r>
            <a:pPr algn="ctr" indent="0" marL="0">
              <a:buNone/>
            </a:pPr>
            <a:r>
              <a:rPr lang="en-US" sz="13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</a:t>
            </a:r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magnifies the strengths of high-performing organizations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dysfunctions of struggling ones."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DORA 2025 Executive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42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403~835억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42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9535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1.8~4.2년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642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ROI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9535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498~593%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658368"/>
          </a:xfrm>
          <a:prstGeom prst="rect">
            <a:avLst/>
          </a:prstGeom>
          <a:solidFill>
            <a:srgbClr val="2C2926"/>
          </a:solidFill>
          <a:ln w="12700">
            <a:solidFill>
              <a:srgbClr val="2C29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39312"/>
            <a:ext cx="8193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 없는 AI ROI는 0. HBT는 지금 시작함."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2026.04.18  |  AM 전략팀 일동  |  근거: DORA 2025 · 행정안전부 2026.03.11 · 근로복지공단 사례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2025 경영진 핵심 메시지 5장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49808"/>
            <a:ext cx="1609344" cy="35204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49808"/>
            <a:ext cx="1609344" cy="2926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속도·안정성은 트레이드오프 아님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138988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40%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(Cluster 6·7)는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속도와 안정성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우수함.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분포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66544" y="749808"/>
            <a:ext cx="1609344" cy="35204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749808"/>
            <a:ext cx="1609344" cy="292608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20%는 이미 도달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1115568"/>
            <a:ext cx="138988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high-achiever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(Cluster 7)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20%가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달성.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비현실적 목표 아님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7328" y="749808"/>
            <a:ext cx="1609344" cy="35204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67328" y="749808"/>
            <a:ext cx="1609344" cy="292608"/>
          </a:xfrm>
          <a:prstGeom prst="rect">
            <a:avLst/>
          </a:prstGeom>
          <a:solidFill>
            <a:srgbClr val="C0530A"/>
          </a:solidFill>
          <a:ln w="12700">
            <a:solidFill>
              <a:srgbClr val="C05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AI는 증폭기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77056" y="1115568"/>
            <a:ext cx="138988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magnifies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strengths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dysfunctions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struggling 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DORA 2025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68112" y="749808"/>
            <a:ext cx="1609344" cy="35204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8112" y="749808"/>
            <a:ext cx="1609344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1264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AM 없는 AI = ROI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1115568"/>
            <a:ext cx="138988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unlikely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yield returns.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인용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68896" y="749808"/>
            <a:ext cx="1609344" cy="352044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68896" y="749808"/>
            <a:ext cx="1609344" cy="292608"/>
          </a:xfrm>
          <a:prstGeom prst="rect">
            <a:avLst/>
          </a:prstGeom>
          <a:solidFill>
            <a:srgbClr val="1A5E7E"/>
          </a:solidFill>
          <a:ln w="12700">
            <a:solidFill>
              <a:srgbClr val="1A5E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AI Mirror — 로드맵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78624" y="1115568"/>
            <a:ext cx="138988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organizations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look,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reflection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DORA 2025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352544"/>
            <a:ext cx="8266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"Get better at getting better." — DORA 핵심 슬로건  |  출처: DORA 2025 State of DevOps Report (dora.dev) · DORA AI Capabilities Model Guide 2025.12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용어집 · 참고문헌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4630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6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5029200" cy="4023360"/>
        </p:xfrm>
        <a:graphic>
          <a:graphicData uri="http://schemas.openxmlformats.org/drawingml/2006/table">
            <a:tbl>
              <a:tblPr/>
              <a:tblGrid>
                <a:gridCol w="1234440"/>
                <a:gridCol w="3813048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Modernization — 레거시 시스템을 현대적 아키텍처로 전환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Retain·Rehost·Replatform·Refactor·Rearchitect·Rebuild·Retire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5메트릭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Freq. · Lead Time · CFR · Recovery Time · Rework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Strangler Fig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레거시 주변에 새 시스템을 점진 배치 후 대체 (Martin Fowler)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 Point — 투자 회수 시점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 of Ownership — 총소유비용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Practice — 실천 커뮤니티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RAG/MCP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Retrieval-Augmented Generation / Model Context Protocol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3-Bucket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Allowed · Permitted with Guardrails · Prohibited (DORA AI 정책)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749808"/>
          <a:ext cx="3154680" cy="2816352"/>
        </p:xfrm>
        <a:graphic>
          <a:graphicData uri="http://schemas.openxmlformats.org/drawingml/2006/table">
            <a:tbl>
              <a:tblPr/>
              <a:tblGrid>
                <a:gridCol w="274320"/>
                <a:gridCol w="256032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2025 State of DevOps Report (dora.dev)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AI Capabilities Model Guide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행정안전부 제5회 과학기술관계장관회의 (ddaily.co.kr)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2026.03.11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근로복지공단 AM 사례 성과보고회 (zdnet.co.kr)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2025.12.23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내부 2025 재무제표·IT 성과 리포트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Gartner TIME Matrix / Martin Fowler Strangler Fig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참고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389120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CCFBF1"/>
          </a:solidFill>
          <a:ln w="12700">
            <a:solidFill>
              <a:srgbClr val="99E6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" y="4443984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결과: APPROVED WITH CONDITIONS (서지환, 전략 감사역) — 보완 2건 반영 완료 · 블로커 0건 · 출처 누락 0건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4855464"/>
            <a:ext cx="7498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321040" y="485546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 전환 전략 보고서 — HBT</dc:title>
  <dc:subject>PptxGenJS Presentation</dc:subject>
  <dc:creator>AM 전략팀 (한지민 외 6인)</dc:creator>
  <cp:lastModifiedBy>AM 전략팀 (한지민 외 6인)</cp:lastModifiedBy>
  <cp:revision>1</cp:revision>
  <dcterms:created xsi:type="dcterms:W3CDTF">2026-04-18T19:02:32Z</dcterms:created>
  <dcterms:modified xsi:type="dcterms:W3CDTF">2026-04-18T19:02:32Z</dcterms:modified>
</cp:coreProperties>
</file>